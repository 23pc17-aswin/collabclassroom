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6"/>
  </p:notesMasterIdLst>
  <p:handoutMasterIdLst>
    <p:handoutMasterId r:id="rId17"/>
  </p:handoutMasterIdLst>
  <p:sldIdLst>
    <p:sldId id="312" r:id="rId5"/>
    <p:sldId id="304" r:id="rId6"/>
    <p:sldId id="323" r:id="rId7"/>
    <p:sldId id="324" r:id="rId8"/>
    <p:sldId id="281" r:id="rId9"/>
    <p:sldId id="325" r:id="rId10"/>
    <p:sldId id="282" r:id="rId11"/>
    <p:sldId id="314" r:id="rId12"/>
    <p:sldId id="315" r:id="rId13"/>
    <p:sldId id="317" r:id="rId14"/>
    <p:sldId id="297" r:id="rId15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0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1933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 snapToObjects="1">
      <p:cViewPr varScale="1">
        <p:scale>
          <a:sx n="85" d="100"/>
          <a:sy n="85" d="100"/>
        </p:scale>
        <p:origin x="590" y="48"/>
      </p:cViewPr>
      <p:guideLst>
        <p:guide orient="horz" pos="2616"/>
        <p:guide orient="horz" pos="3264"/>
        <p:guide pos="6902"/>
        <p:guide orient="horz"/>
        <p:guide orient="horz" pos="4008"/>
        <p:guide orient="horz" pos="1933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DA25EC-08D5-0842-7748-5A47D9BE5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D2C153-F28D-94B5-77A6-4B15D39D9B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F34366-733B-09E0-EA0D-B7828ECE3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7677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6B175A-CFF9-7C62-2164-7C74EB88E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9C62E1-8F4C-A7FB-063D-BC5E583DF3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6C352D-0267-0132-760F-CA1F973E1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674691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22997-D1FB-F0AD-8BA2-D69BC024F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C1A2F7B-5469-6DE9-D552-D5829F565F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735003-52FA-A590-BBD6-C20495008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1479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IDEA</a:t>
            </a:r>
            <a:br>
              <a:rPr lang="en-US" dirty="0"/>
            </a:br>
            <a:r>
              <a:rPr lang="en-US" sz="2400" dirty="0"/>
              <a:t>International data encryption algorithm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23pc19 – harish </a:t>
            </a:r>
            <a:r>
              <a:rPr lang="en-US" sz="2400"/>
              <a:t>hj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Encryption</a:t>
            </a:r>
          </a:p>
          <a:p>
            <a:r>
              <a:rPr lang="en-US" dirty="0"/>
              <a:t>Key Scheduling</a:t>
            </a:r>
          </a:p>
          <a:p>
            <a:r>
              <a:rPr lang="en-US" dirty="0"/>
              <a:t>Decryption</a:t>
            </a:r>
          </a:p>
          <a:p>
            <a:r>
              <a:rPr lang="en-US" dirty="0"/>
              <a:t>Security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CA7D3-6F4B-53E6-4F7D-60BDF1D8E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85D7C-029B-95C2-405E-52430491B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 err="1"/>
              <a:t>INTroduction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0D6DC5-40DC-B810-2D67-F192F21F2E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r>
              <a:rPr lang="en-US" dirty="0"/>
              <a:t>It is a </a:t>
            </a:r>
            <a:r>
              <a:rPr lang="en-US" b="1" dirty="0"/>
              <a:t>symmetric key block cipher</a:t>
            </a:r>
            <a:r>
              <a:rPr lang="en-US" dirty="0"/>
              <a:t> designed for secure encryption of data.</a:t>
            </a:r>
          </a:p>
          <a:p>
            <a:r>
              <a:rPr lang="en-US" dirty="0"/>
              <a:t>It was developed by </a:t>
            </a:r>
            <a:r>
              <a:rPr lang="en-US" b="1" dirty="0" err="1"/>
              <a:t>Xuejia</a:t>
            </a:r>
            <a:r>
              <a:rPr lang="en-US" b="1" dirty="0"/>
              <a:t> Lai and James Massey</a:t>
            </a:r>
            <a:r>
              <a:rPr lang="en-US" dirty="0"/>
              <a:t> in 1991 as an improvement over the Data Encryption Standard (</a:t>
            </a:r>
            <a:r>
              <a:rPr lang="en-US" b="1" dirty="0"/>
              <a:t>DES</a:t>
            </a:r>
            <a:r>
              <a:rPr lang="en-US" dirty="0"/>
              <a:t>)</a:t>
            </a:r>
          </a:p>
          <a:p>
            <a:r>
              <a:rPr lang="en-US" dirty="0"/>
              <a:t>IDEA is widely known for its strong security and resistance to cryptanalysis.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F60B121A-0F22-3321-12F1-6536A14487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0101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10A0F-FE39-53BA-CDA6-53D3108CB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CC4E02E-802B-CF8D-8CEE-F3315B61E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428815"/>
            <a:ext cx="9875463" cy="999746"/>
          </a:xfrm>
        </p:spPr>
        <p:txBody>
          <a:bodyPr/>
          <a:lstStyle/>
          <a:p>
            <a:r>
              <a:rPr lang="en-US" dirty="0"/>
              <a:t>Encryption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D06E8B9-4BD9-5D05-A682-F74602A52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1667435"/>
            <a:ext cx="10462142" cy="490369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/>
              <a:t>Block Size:</a:t>
            </a:r>
            <a:r>
              <a:rPr lang="en-US" dirty="0"/>
              <a:t> 64-bit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Operates on </a:t>
            </a:r>
            <a:r>
              <a:rPr lang="en-US" b="1" dirty="0"/>
              <a:t>64-bit plaintext blocks</a:t>
            </a:r>
            <a:r>
              <a:rPr lang="en-US" dirty="0"/>
              <a:t>, producing </a:t>
            </a:r>
            <a:r>
              <a:rPr lang="en-US" b="1" dirty="0"/>
              <a:t>64-bit ciphertext blocks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Key Size:</a:t>
            </a:r>
            <a:r>
              <a:rPr lang="en-US" dirty="0"/>
              <a:t> 128-bit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Uses a </a:t>
            </a:r>
            <a:r>
              <a:rPr lang="en-US" b="1" dirty="0"/>
              <a:t>128-bit key</a:t>
            </a:r>
            <a:r>
              <a:rPr lang="en-US" dirty="0"/>
              <a:t> for encryption and decryption.</a:t>
            </a:r>
          </a:p>
          <a:p>
            <a:pPr>
              <a:buNone/>
            </a:pPr>
            <a:r>
              <a:rPr lang="en-US" b="1" dirty="0"/>
              <a:t>Number of Rounds:</a:t>
            </a:r>
            <a:r>
              <a:rPr lang="en-US" dirty="0"/>
              <a:t> 8.5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Consists of </a:t>
            </a:r>
            <a:r>
              <a:rPr lang="en-US" b="1" dirty="0"/>
              <a:t>8 full rounds</a:t>
            </a:r>
            <a:r>
              <a:rPr lang="en-US" dirty="0"/>
              <a:t> + </a:t>
            </a:r>
            <a:r>
              <a:rPr lang="en-US" b="1" dirty="0"/>
              <a:t>1 half-round (output transformation)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Operations Used</a:t>
            </a:r>
            <a:r>
              <a:rPr lang="en-US" dirty="0"/>
              <a:t>:</a:t>
            </a:r>
          </a:p>
          <a:p>
            <a:r>
              <a:rPr lang="en-US" dirty="0"/>
              <a:t>Bitwise XOR (⊕)</a:t>
            </a:r>
          </a:p>
          <a:p>
            <a:r>
              <a:rPr lang="en-US" dirty="0"/>
              <a:t>Addition mod 2^16 (AND 0xFFFF trick)</a:t>
            </a:r>
          </a:p>
          <a:p>
            <a:r>
              <a:rPr lang="en-US" dirty="0"/>
              <a:t>Multiplication mod (2^16)+1 (Special case: 65536 → 0)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C25257-3C8B-3C61-4FA4-FA4B99E0A4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3431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708212"/>
            <a:ext cx="10874188" cy="599738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Round uses six 16-bit subkeys K(r)</a:t>
            </a:r>
            <a:r>
              <a:rPr lang="en-US" dirty="0" err="1"/>
              <a:t>i</a:t>
            </a:r>
            <a:r>
              <a:rPr lang="en-US" dirty="0"/>
              <a:t> , 1 ≤i≤6,to transform 64-bit input X into an output of four16-bit blocks, which are in put to the next round.(Where r is the round number)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/>
              <a:t>The round 8 output enters the output transformation, employing four additional subkeys K(9)</a:t>
            </a:r>
            <a:r>
              <a:rPr lang="en-IN" dirty="0" err="1"/>
              <a:t>i</a:t>
            </a:r>
            <a:r>
              <a:rPr lang="en-IN" dirty="0"/>
              <a:t> , 1 ≤ </a:t>
            </a:r>
            <a:r>
              <a:rPr lang="en-IN" dirty="0" err="1"/>
              <a:t>i</a:t>
            </a:r>
            <a:r>
              <a:rPr lang="en-IN" dirty="0"/>
              <a:t> ≤ 4 to produce the final ciphertext Y =(Y1,Y2,Y3,Y4).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dirty="0"/>
          </a:p>
          <a:p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corresponding group operations on sub-blocks a and b of bitlength n =16:</a:t>
            </a:r>
          </a:p>
          <a:p>
            <a:endParaRPr lang="en-IN" dirty="0"/>
          </a:p>
          <a:p>
            <a:endParaRPr lang="en-US" dirty="0"/>
          </a:p>
          <a:p>
            <a:pPr marL="514350" indent="-514350">
              <a:buFont typeface="+mj-lt"/>
              <a:buAutoNum type="romanLcPeriod"/>
            </a:pP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FE866B5-91C6-F415-C031-0689F2E832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038" y="4496288"/>
            <a:ext cx="6090091" cy="1047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849FC8-E860-1338-0444-B614DC273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B9AF715-5B68-EF3D-1519-F8BA41E4C1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959D170-E1C1-0F29-D2F5-76DE09A13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0054" y="125265"/>
            <a:ext cx="6466699" cy="6607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377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14916" y="928688"/>
            <a:ext cx="9278471" cy="557072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INPUT: 64-bit plaintext M = m1...m64; 128-bit key K = k1...k128. </a:t>
            </a:r>
          </a:p>
          <a:p>
            <a:r>
              <a:rPr lang="es-ES" dirty="0"/>
              <a:t>OUTPUT: 64-bit </a:t>
            </a:r>
            <a:r>
              <a:rPr lang="es-ES" dirty="0" err="1"/>
              <a:t>ciphertext</a:t>
            </a:r>
            <a:r>
              <a:rPr lang="es-ES" dirty="0"/>
              <a:t> block Y =(Y1,Y2,Y3,Y4). </a:t>
            </a:r>
          </a:p>
          <a:p>
            <a:r>
              <a:rPr lang="en-IN" dirty="0"/>
              <a:t>Compute 16-bit subkeys K(r)1 ,... ,K(r)6 for rounds 1 ≤ r ≤ 8, and K(9)1 ,... ,K(9)4 for the output transformation </a:t>
            </a:r>
          </a:p>
          <a:p>
            <a:r>
              <a:rPr lang="en-US" dirty="0"/>
              <a:t>(X1,X2,X3,X4) ← (m1...m16, m17...m32, m33...m48, m49...m64), where Xi is a 16-bit data store.</a:t>
            </a:r>
          </a:p>
          <a:p>
            <a:r>
              <a:rPr lang="en-IN" dirty="0"/>
              <a:t>For round r from 1 to 8 do: 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(output transformation)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Y1 ← X1.K(9)1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Y4 ← X4.K(9)4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Y2 ← X3⊞K(9)2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Y3 ← X2 ⊞K(9)3 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7C80B8-D199-5A97-45C5-8256C250AF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900" y="3225719"/>
            <a:ext cx="8277644" cy="101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6283" y="98266"/>
            <a:ext cx="7043617" cy="726715"/>
          </a:xfrm>
        </p:spPr>
        <p:txBody>
          <a:bodyPr/>
          <a:lstStyle/>
          <a:p>
            <a:r>
              <a:rPr lang="en-IN" dirty="0"/>
              <a:t>key schedule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586283" y="1075765"/>
            <a:ext cx="8327811" cy="532503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INPUT: 128-bit key K = k1...k128.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OUTPUT: 52 16-bit key sub-blocks K(r)</a:t>
            </a:r>
            <a:r>
              <a:rPr lang="en-US" dirty="0" err="1"/>
              <a:t>i</a:t>
            </a:r>
            <a:r>
              <a:rPr lang="en-US" dirty="0"/>
              <a:t> for 8 rounds r and the output transformation.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Order the subkeys K(1)1 ...K(1)6 ,K(2)1 ...K(2)6 ,... ,K(8)1 ...K(8)6 ,K(9)1 ...K(9)4 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Partition K into eight 16-bit blocks, assign these directly to the first 8 subkeys.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Do the following until all 52 subkeys are assigned, cyclic shift K left 25 bits; partition the result into 8 blocks, assign these blocks to the next 8 subkeys.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3434" y="-529442"/>
            <a:ext cx="7796464" cy="1222385"/>
          </a:xfrm>
        </p:spPr>
        <p:txBody>
          <a:bodyPr/>
          <a:lstStyle/>
          <a:p>
            <a:r>
              <a:rPr lang="en-US" dirty="0"/>
              <a:t>decryption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43434" y="928688"/>
            <a:ext cx="8657665" cy="572312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Decryption is achieved using Encryption Algorithm with the cipher text Y provided as input M, and the same encryption key K, but the following change to the key schedule.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First use K to derive all encryption subkeys K(r)</a:t>
            </a:r>
            <a:r>
              <a:rPr lang="en-US" dirty="0" err="1"/>
              <a:t>i</a:t>
            </a:r>
            <a:r>
              <a:rPr lang="en-US" dirty="0"/>
              <a:t> ; from these compute the decryption subkeys K`(r)</a:t>
            </a:r>
            <a:r>
              <a:rPr lang="en-US" dirty="0" err="1"/>
              <a:t>i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−Ki denotes the additive inverse (mod 2^16)of Ki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Ki^−1 denotes the multiplicative inverse (mod 2^16 +1)of Ki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7D31BA-851E-DB09-B560-81098BE7E2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2165" y="2177005"/>
            <a:ext cx="5829304" cy="15415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191" y="147129"/>
            <a:ext cx="7631709" cy="1091627"/>
          </a:xfrm>
        </p:spPr>
        <p:txBody>
          <a:bodyPr/>
          <a:lstStyle/>
          <a:p>
            <a:r>
              <a:rPr lang="en-US" dirty="0"/>
              <a:t>Security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506071"/>
            <a:ext cx="8191500" cy="514574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For the full 8-round IDEA, other than attacks on weak keys, no published attack is better than exhaustive search on the 128-bit key space.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security of IDEA currently appears to be bounded only by the weaknesses arising from its </a:t>
            </a:r>
            <a:r>
              <a:rPr lang="en-US" b="1" dirty="0"/>
              <a:t>relatively small 64-bit block size</a:t>
            </a:r>
            <a:r>
              <a:rPr lang="en-US" dirty="0"/>
              <a:t>, despite its </a:t>
            </a:r>
            <a:r>
              <a:rPr lang="en-US" b="1" dirty="0"/>
              <a:t>128-bit key length, </a:t>
            </a:r>
            <a:r>
              <a:rPr lang="en-US" dirty="0"/>
              <a:t>making it vulnerable to </a:t>
            </a:r>
            <a:r>
              <a:rPr lang="en-US" b="1" dirty="0"/>
              <a:t>birthday attacks</a:t>
            </a:r>
            <a:r>
              <a:rPr lang="en-US" dirty="0"/>
              <a:t> and </a:t>
            </a:r>
            <a:r>
              <a:rPr lang="en-US" b="1" dirty="0"/>
              <a:t>Sweet32</a:t>
            </a:r>
            <a:r>
              <a:rPr lang="en-US" dirty="0"/>
              <a:t> when encrypting large amounts of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Performance Issues (Slow Compared to AES) </a:t>
            </a:r>
            <a:r>
              <a:rPr lang="en-US" dirty="0"/>
              <a:t>IDEA relies heavily on </a:t>
            </a:r>
            <a:r>
              <a:rPr lang="en-US" b="1" dirty="0"/>
              <a:t>modular multiplication</a:t>
            </a:r>
            <a:r>
              <a:rPr lang="en-US" dirty="0"/>
              <a:t>, which is </a:t>
            </a:r>
            <a:r>
              <a:rPr lang="en-US" b="1" dirty="0"/>
              <a:t>computationally expensive</a:t>
            </a:r>
            <a:r>
              <a:rPr lang="en-US" dirty="0"/>
              <a:t> on most processors.</a:t>
            </a:r>
          </a:p>
          <a:p>
            <a:endParaRPr lang="en-US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623" y="980415"/>
            <a:ext cx="7436224" cy="2727709"/>
          </a:xfrm>
        </p:spPr>
        <p:txBody>
          <a:bodyPr/>
          <a:lstStyle/>
          <a:p>
            <a:r>
              <a:rPr lang="en-US" sz="72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{397C2BF8-A617-42EE-9BF0-19722AF79DF8}tf78438558_win32</Template>
  <TotalTime>147</TotalTime>
  <Words>697</Words>
  <Application>Microsoft Office PowerPoint</Application>
  <PresentationFormat>Widescreen</PresentationFormat>
  <Paragraphs>69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Sabon Next LT</vt:lpstr>
      <vt:lpstr>Custom</vt:lpstr>
      <vt:lpstr>IDEA International data encryption algorithm  23pc19 – harish hj</vt:lpstr>
      <vt:lpstr>agenda</vt:lpstr>
      <vt:lpstr>INTroduction</vt:lpstr>
      <vt:lpstr>Encryption</vt:lpstr>
      <vt:lpstr>PowerPoint Presentation</vt:lpstr>
      <vt:lpstr>PowerPoint Presentation</vt:lpstr>
      <vt:lpstr>PowerPoint Presentation</vt:lpstr>
      <vt:lpstr>key schedule</vt:lpstr>
      <vt:lpstr>decryption</vt:lpstr>
      <vt:lpstr>Security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HARISH HJ</dc:creator>
  <cp:lastModifiedBy>HARISH HJ</cp:lastModifiedBy>
  <cp:revision>2</cp:revision>
  <dcterms:created xsi:type="dcterms:W3CDTF">2025-03-25T16:17:23Z</dcterms:created>
  <dcterms:modified xsi:type="dcterms:W3CDTF">2025-04-04T08:52:42Z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